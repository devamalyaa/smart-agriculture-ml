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3" r:id="rId5"/>
    <p:sldId id="258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7" d="100"/>
          <a:sy n="57" d="100"/>
        </p:scale>
        <p:origin x="1560" y="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76D98-D61B-4655-9F07-885518B2E13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7176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2F0ED-5252-4C0D-3BA2-BA6ECDF90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6E366-4DE2-8E81-1DC3-0AEE197AF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19ECA-A45F-0986-41DE-E73470F3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C80E-2DDD-1136-4BC6-B4406DBF7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6432E-64B5-4716-F794-CD0C848FE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428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75F44-3844-F881-3DC9-E55F3A5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5DD6E-70DC-EC37-F363-8CA0371D4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84CC4-4338-D905-6FCE-6141610CE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6F4CB-E19E-BF21-CA04-20FBF9E0B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561CA-A7D9-921E-283C-D2D26EC9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82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F0DB8-4328-6842-4C20-194E16496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C16DD-B055-C373-DB9C-1095E3A7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8B3A-5B20-B104-4DC9-F294FE85D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F6EF1-C2BF-E0B8-5AD2-1E80894A9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C3E5B-79C1-F551-EB78-424972E4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75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FA2CF-D4B2-C0EA-7D8B-9997981D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C816-FAB0-61B5-B8A9-3CEEDE3AC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888030-9606-40F3-F568-569861E67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6BC2E-18CA-513E-BBD3-A4A6A468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0C424-8EE7-DCF3-92CA-9943CA217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02771-6578-A3F3-2DE5-957F26935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01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A56EB-15F3-DA5A-FC5F-C8A9854D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F55B3-769C-0F68-56E4-09A31651F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9390E3-482E-14E5-E93E-3EFDFCA02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F7FD4-A0A2-100E-247B-0439DA6A8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B19785-7F9E-F7E7-9989-FBA2A2436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9BF4CB-4B11-6795-84C1-91B139428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2FCB82-5972-D333-E21C-DF24F6BC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12211A-324E-9069-32B0-8F50973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88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0A965-A2B0-80BB-C6BA-CCCFA27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A2016-FBBB-4A1F-6F9E-FE6A63DE4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E845DF-F961-5466-32C3-C6385060C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057F6-928A-6D9F-4161-C04DEAA8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7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366D7-6680-4FD6-C029-DC5C0BB2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179984-8567-91CB-0310-29A3752B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7A0D-606C-3BF9-8DBE-908D80966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76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684C1-8596-31A1-180D-C7EC5332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62C2-B7CC-ADA3-9D39-3541B3FE5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35A5F9-7E68-401F-C3BB-09FB74F82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F73E6-ECB8-2943-41D8-05812D84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6B5AF7-95CA-05D2-1119-F667C7B6F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599C23-C916-AE53-9371-42CF3819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9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9AC56-39A4-2278-722C-617F9F770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AD1B2-1942-74FB-C400-0DB0C13B9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A8F38-E9BE-47E4-7662-3CD4AECCB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8AE0B-2CCA-EDA3-1B80-8F2E1DF8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B1342-9AFD-57F0-2E90-76ECCEAFA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180B8-E20A-6138-1A1C-1E980CAD4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4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050B6-05B4-E3FE-22C0-B823946C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34B519-CE0F-EF5E-0363-067F1B0DB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2CA70-5E41-1433-D1D4-58B7EECA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7E013-1DD3-69EC-2DB2-F95CD3491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2FAA7-8459-22BB-DD92-45D2DCDB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65F096-56EB-9C2E-FB81-FEE0A0CAD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D9855-6F39-E67A-6BE9-0AC527E97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113E1-9951-703E-A152-D5CEEC0E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3D87-637E-E53B-45EF-5E53B292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677AB-ED08-1C04-AEC4-B8B3B85B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2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4DB59C-E06D-9064-D0E9-EE878347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3B2644-B987-EA40-64D1-C253A45B0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C9483-BDE6-AF2E-5EF6-5FD8C63DA8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45DA1-9E37-8BE4-5FD8-308623973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78D0E-8A6B-A368-9312-1F3C29DDB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27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hyperlink" Target="https://scikit-learn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chive.ics.uci.edu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F15FA6-086D-491A-B175-0CA4656FBDCB}"/>
              </a:ext>
            </a:extLst>
          </p:cNvPr>
          <p:cNvPicPr/>
          <p:nvPr/>
        </p:nvPicPr>
        <p:blipFill>
          <a:blip r:embed="rId2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headEnd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BEE647A-5606-A6E5-93DB-A43A8FC2D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8" y="1251284"/>
            <a:ext cx="10812378" cy="2458586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CSE (ARTIFICIAL INTELLIGENCE AND MACHINE LEARNING)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III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2400" dirty="0">
                <a:solidFill>
                  <a:srgbClr val="FF0000"/>
                </a:solidFill>
              </a:rPr>
              <a:t>SMART AGRICULTURE YIELD PREDICTION USING MACHINE LEARNING WITH MODEL COMPARISON AND CLUSTERING</a:t>
            </a: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en-US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39E0012-B3AF-E718-6BBA-5D37629E4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41962"/>
              </p:ext>
            </p:extLst>
          </p:nvPr>
        </p:nvGraphicFramePr>
        <p:xfrm>
          <a:off x="2098841" y="3845961"/>
          <a:ext cx="8392696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16485">
                  <a:extLst>
                    <a:ext uri="{9D8B030D-6E8A-4147-A177-3AD203B41FA5}">
                      <a16:colId xmlns:a16="http://schemas.microsoft.com/office/drawing/2014/main" val="1924387309"/>
                    </a:ext>
                  </a:extLst>
                </a:gridCol>
                <a:gridCol w="6176211">
                  <a:extLst>
                    <a:ext uri="{9D8B030D-6E8A-4147-A177-3AD203B41FA5}">
                      <a16:colId xmlns:a16="http://schemas.microsoft.com/office/drawing/2014/main" val="471423325"/>
                    </a:ext>
                  </a:extLst>
                </a:gridCol>
              </a:tblGrid>
              <a:tr h="48631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2117240030024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170341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DEVAMALYAA G 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366592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965190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SECTION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06844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Mrs. M. Divya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99969"/>
                  </a:ext>
                </a:extLst>
              </a:tr>
            </a:tbl>
          </a:graphicData>
        </a:graphic>
      </p:graphicFrame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6B174A57-15CE-2FFD-86D9-B7E84692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  <a:t>5/6/2026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873981-939E-932D-DBE2-6B02CC92B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93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E759A-0732-65F8-ABFC-93E81441B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17474-C476-1051-3F37-A2159E2BE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538202"/>
          </a:xfrm>
        </p:spPr>
        <p:txBody>
          <a:bodyPr>
            <a:normAutofit fontScale="77500" lnSpcReduction="20000"/>
          </a:bodyPr>
          <a:lstStyle/>
          <a:p>
            <a:pPr marL="0" indent="0" algn="just">
              <a:buNone/>
            </a:pPr>
            <a:r>
              <a:rPr lang="en-US" b="1" i="1" dirty="0"/>
              <a:t>Introduction</a:t>
            </a:r>
          </a:p>
          <a:p>
            <a:pPr algn="just"/>
            <a:r>
              <a:rPr lang="en-US" sz="2400" dirty="0"/>
              <a:t>Machine Learning enables systems to learn patterns from data and make predictions without explicit programming</a:t>
            </a:r>
          </a:p>
          <a:p>
            <a:pPr algn="just"/>
            <a:r>
              <a:rPr lang="en-US" sz="2400" dirty="0"/>
              <a:t>Agriculture is the backbone of developing economies and crop yield prediction is critical for planning</a:t>
            </a:r>
          </a:p>
          <a:p>
            <a:pPr algn="just"/>
            <a:r>
              <a:rPr lang="en-US" sz="2400" dirty="0"/>
              <a:t>Traditional yield prediction methods rely on expert knowledge and historical averages — often inaccurate</a:t>
            </a:r>
            <a:endParaRPr lang="en-US" sz="2600" dirty="0"/>
          </a:p>
          <a:p>
            <a:pPr marL="0" indent="0" algn="just">
              <a:buNone/>
            </a:pPr>
            <a:r>
              <a:rPr lang="en-US" sz="2600" b="1" i="1" dirty="0"/>
              <a:t>Problem Statement</a:t>
            </a:r>
          </a:p>
          <a:p>
            <a:pPr algn="just"/>
            <a:r>
              <a:rPr lang="en-US" sz="2600" dirty="0"/>
              <a:t>P</a:t>
            </a:r>
            <a:r>
              <a:rPr lang="en-US" sz="2400" dirty="0"/>
              <a:t>redict crop yield in tons per hectare using agricultural and environmental features</a:t>
            </a:r>
            <a:endParaRPr lang="en-US" sz="2600" dirty="0"/>
          </a:p>
          <a:p>
            <a:pPr algn="just"/>
            <a:r>
              <a:rPr lang="en-US" sz="2400" dirty="0"/>
              <a:t>Train and compare multiple regression models to identify the best-performing approach</a:t>
            </a:r>
            <a:r>
              <a:rPr lang="en-US" sz="2600" dirty="0"/>
              <a:t> </a:t>
            </a:r>
          </a:p>
          <a:p>
            <a:pPr marL="0" indent="0" algn="just">
              <a:buNone/>
            </a:pPr>
            <a:r>
              <a:rPr lang="en-US" sz="2600" b="1" i="1" dirty="0"/>
              <a:t>Goal</a:t>
            </a:r>
          </a:p>
          <a:p>
            <a:pPr algn="just"/>
            <a:r>
              <a:rPr lang="en-US" sz="2600" dirty="0"/>
              <a:t>B</a:t>
            </a:r>
            <a:r>
              <a:rPr lang="en-US" sz="2400" dirty="0"/>
              <a:t>uild an accurate regression model using Linear Regression, Decision Tree, Random Forest, and KNN</a:t>
            </a:r>
            <a:endParaRPr lang="en-US" sz="2600" dirty="0"/>
          </a:p>
          <a:p>
            <a:pPr algn="just"/>
            <a:r>
              <a:rPr lang="en-US" sz="2600" dirty="0"/>
              <a:t>C</a:t>
            </a:r>
            <a:r>
              <a:rPr lang="en-US" sz="2400" dirty="0"/>
              <a:t>ompare models using R² Score, MSE, and MAE to select the best model</a:t>
            </a:r>
            <a:endParaRPr lang="en-US" sz="2600" dirty="0"/>
          </a:p>
          <a:p>
            <a:pPr algn="just"/>
            <a:r>
              <a:rPr lang="en-US" sz="2600" dirty="0"/>
              <a:t>A</a:t>
            </a:r>
            <a:r>
              <a:rPr lang="en-US" sz="2400" dirty="0"/>
              <a:t>pply K-Means Clustering to group farm conditions into High, Moderate, and Low Productivity Zones</a:t>
            </a:r>
            <a:endParaRPr lang="en-US" sz="2600" dirty="0"/>
          </a:p>
          <a:p>
            <a:pPr algn="just"/>
            <a:r>
              <a:rPr lang="en-US" sz="2600" dirty="0"/>
              <a:t>P</a:t>
            </a:r>
            <a:r>
              <a:rPr lang="en-US" sz="2400" dirty="0"/>
              <a:t>roduce visualizations including model comparison charts, actual vs predicted plots, and clustering scatter plots</a:t>
            </a:r>
            <a:endParaRPr lang="en-US" sz="2600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F5BCC-B36E-DFE5-103F-31FA1263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53399-F526-B4B1-D444-32B3A164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14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CC068-5F54-97E8-2F1C-0538F112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2B1AF-B7ED-6DDA-888D-9BCAF08EA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7243E-1300-82BE-9968-6837E801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 fontScale="70000" lnSpcReduction="20000"/>
          </a:bodyPr>
          <a:lstStyle/>
          <a:p>
            <a:pPr marL="0" indent="0" algn="just">
              <a:buNone/>
            </a:pPr>
            <a:r>
              <a:rPr lang="en-US" sz="2900" b="1" i="1" dirty="0"/>
              <a:t>Theoretical Background</a:t>
            </a:r>
          </a:p>
          <a:p>
            <a:pPr algn="just"/>
            <a:r>
              <a:rPr lang="en-US" sz="3200" dirty="0"/>
              <a:t>Crop yield prediction is a supervised regression problem with continuous numerical output.</a:t>
            </a:r>
          </a:p>
          <a:p>
            <a:pPr algn="just"/>
            <a:r>
              <a:rPr lang="en-US" sz="3200" dirty="0"/>
              <a:t>Features include categorical data (Region, Crop, Soil Type) and numerical data (Rainfall, Temperature).</a:t>
            </a:r>
          </a:p>
          <a:p>
            <a:pPr algn="just"/>
            <a:r>
              <a:rPr lang="en-US" sz="3200" dirty="0"/>
              <a:t> Non-linear relationships in agricultural data require advanced machine learning models beyond Linear Regression.</a:t>
            </a:r>
            <a:endParaRPr lang="en-US" sz="2900" b="1" i="1" dirty="0"/>
          </a:p>
          <a:p>
            <a:pPr marL="0" indent="0" algn="just">
              <a:buNone/>
            </a:pPr>
            <a:r>
              <a:rPr lang="en-US" b="1" dirty="0"/>
              <a:t>Algorithms Used</a:t>
            </a:r>
          </a:p>
          <a:p>
            <a:pPr algn="just"/>
            <a:r>
              <a:rPr lang="en-US" dirty="0"/>
              <a:t> </a:t>
            </a:r>
            <a:r>
              <a:rPr lang="en-US" b="1" dirty="0"/>
              <a:t>Linear Regression</a:t>
            </a:r>
            <a:r>
              <a:rPr lang="en-US" dirty="0"/>
              <a:t>: Baseline model assuming linear relationship between features and crop yield.</a:t>
            </a:r>
          </a:p>
          <a:p>
            <a:pPr algn="just"/>
            <a:r>
              <a:rPr lang="en-US" b="1" dirty="0"/>
              <a:t>Decision Tree Regressor</a:t>
            </a:r>
            <a:r>
              <a:rPr lang="en-US" dirty="0"/>
              <a:t>: Captures non-linear patterns using recursive feature-based splits.</a:t>
            </a:r>
          </a:p>
          <a:p>
            <a:pPr algn="just"/>
            <a:r>
              <a:rPr lang="en-US" b="1" dirty="0"/>
              <a:t>Random Forest Regressor</a:t>
            </a:r>
            <a:r>
              <a:rPr lang="en-US" dirty="0"/>
              <a:t>: Main model using multiple decision trees for higher accuracy and reduced overfitting. Humans invented forests virtually because real forests were apparently too difficult to preserve.</a:t>
            </a:r>
          </a:p>
          <a:p>
            <a:pPr algn="just"/>
            <a:r>
              <a:rPr lang="en-US" b="1" dirty="0"/>
              <a:t>KNN Regressor</a:t>
            </a:r>
            <a:r>
              <a:rPr lang="en-US" dirty="0"/>
              <a:t>: Predicts yield using the average of nearest neighboring data points.</a:t>
            </a:r>
          </a:p>
          <a:p>
            <a:pPr algn="just"/>
            <a:r>
              <a:rPr lang="en-US" b="1" dirty="0"/>
              <a:t>K-Means Clustering</a:t>
            </a:r>
            <a:r>
              <a:rPr lang="en-US" dirty="0"/>
              <a:t>: Groups agricultural regions into 3 productivity-based clusters using unsupervised learning.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593AB-ABA6-D8E8-42D9-A38FB7B4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AE40CC-B05F-6325-A926-99504CD4A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692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692F9-E6A8-9165-1233-1384C217B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8B32A-6884-DADB-828C-F53524C41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F08CF-236F-14BF-634D-10454BE84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/>
          <a:lstStyle/>
          <a:p>
            <a:pPr marL="0" indent="0" algn="just">
              <a:buNone/>
            </a:pPr>
            <a:r>
              <a:rPr lang="en-IN" sz="2400" b="1" dirty="0"/>
              <a:t>Algorithm Explanation with Example</a:t>
            </a:r>
          </a:p>
          <a:p>
            <a:pPr algn="just"/>
            <a:r>
              <a:rPr lang="en-US" sz="2400" dirty="0"/>
              <a:t>Step 1 → Load dataset (crop_yield.csv) with 10 features and 1 target variable</a:t>
            </a:r>
          </a:p>
          <a:p>
            <a:pPr algn="just"/>
            <a:r>
              <a:rPr lang="en-US" sz="2400" dirty="0"/>
              <a:t>Step 2 → Preprocess: encode categorical columns, convert </a:t>
            </a:r>
            <a:r>
              <a:rPr lang="en-US" sz="2400" dirty="0" err="1"/>
              <a:t>boolean</a:t>
            </a:r>
            <a:r>
              <a:rPr lang="en-US" sz="2400" dirty="0"/>
              <a:t> columns, apply </a:t>
            </a:r>
            <a:r>
              <a:rPr lang="en-US" sz="2400" dirty="0" err="1"/>
              <a:t>StandardScaler</a:t>
            </a:r>
            <a:endParaRPr lang="en-IN" sz="2200" dirty="0"/>
          </a:p>
          <a:p>
            <a:pPr algn="just"/>
            <a:r>
              <a:rPr lang="en-US" sz="2400" dirty="0"/>
              <a:t>Step 3 → Split data: 80% training, 20% testing with </a:t>
            </a:r>
            <a:r>
              <a:rPr lang="en-US" sz="2400" dirty="0" err="1"/>
              <a:t>random_state</a:t>
            </a:r>
            <a:r>
              <a:rPr lang="en-US" sz="2400" dirty="0"/>
              <a:t>=42</a:t>
            </a:r>
          </a:p>
          <a:p>
            <a:pPr algn="just"/>
            <a:r>
              <a:rPr lang="en-US" sz="2400" dirty="0"/>
              <a:t>Step 4 → Train all four regression models on the same training set</a:t>
            </a:r>
          </a:p>
          <a:p>
            <a:pPr algn="just"/>
            <a:r>
              <a:rPr lang="en-US" sz="2400" dirty="0"/>
              <a:t>Step 5 → Evaluate each model using R², MSE, and MAE on the test set</a:t>
            </a:r>
          </a:p>
          <a:p>
            <a:pPr algn="just"/>
            <a:r>
              <a:rPr lang="en-US" sz="2400" dirty="0"/>
              <a:t>Step 6 → Apply K-Means Clustering on Rainfall, Temperature, Days to Harvest, and Yield</a:t>
            </a:r>
            <a:endParaRPr lang="en-IN" sz="2200" dirty="0"/>
          </a:p>
          <a:p>
            <a:pPr algn="just"/>
            <a:r>
              <a:rPr lang="en-US" sz="2400" dirty="0"/>
              <a:t>Step 7 → Visualize: model comparison chart, actual vs predicted, feature importance, clustering plot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F2D05-A28B-9AE5-5DB6-96BD58CD3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D5687-0702-4182-5C9F-F11E91471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4163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34F6B-2294-8100-6428-71DD4A23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76350-5987-57CB-5096-A77DCA200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9904C-7E5E-5862-ACA4-167CDBC50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code in Git-hub Repository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C0E82-F7C5-E4B3-8BB9-1583AC6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75014-201C-1110-C957-46A30A1C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E64048-76D1-E559-97A6-1E9DA8CC9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048099"/>
              </p:ext>
            </p:extLst>
          </p:nvPr>
        </p:nvGraphicFramePr>
        <p:xfrm>
          <a:off x="609600" y="2205222"/>
          <a:ext cx="11181348" cy="17475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64042">
                  <a:extLst>
                    <a:ext uri="{9D8B030D-6E8A-4147-A177-3AD203B41FA5}">
                      <a16:colId xmlns:a16="http://schemas.microsoft.com/office/drawing/2014/main" val="4052004335"/>
                    </a:ext>
                  </a:extLst>
                </a:gridCol>
                <a:gridCol w="8117306">
                  <a:extLst>
                    <a:ext uri="{9D8B030D-6E8A-4147-A177-3AD203B41FA5}">
                      <a16:colId xmlns:a16="http://schemas.microsoft.com/office/drawing/2014/main" val="12519598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List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Git-hub Repository Links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36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Implementation of Code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https://github.com/Devamalyaa/Smart-Agriculture-ML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202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Word Document Report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https://github.com/Devamalyaa/Smart-Agriculture-ML/blob/main/22.pdf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05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PPT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https://github.com/Devamalyaa/Smart-Agriculture-ML/blob/main/ML_LAB_MINI_PPT_2117240030024.pptx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241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9586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DA1F7BB-82E2-26EE-5547-D7E3F2D416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9617" y="1135793"/>
            <a:ext cx="5428864" cy="2764304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386840-34A7-94D4-3CD5-600E6D9B29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68729" y="1135793"/>
            <a:ext cx="3860733" cy="27643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FA79DA-430A-618D-31E2-1C9FF940C2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37592" y="4002240"/>
            <a:ext cx="3272912" cy="27187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94884B-D9B5-A716-CCEB-493EEF281C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64550" y="4002755"/>
            <a:ext cx="4469090" cy="271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269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63ECA-B59E-8742-1165-9911D2A4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B2EF6-B936-B9EB-24E4-C84A06240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409AF-1BD6-CFDC-B172-AD3D38536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dirty="0"/>
              <a:t> Results and Future Enhancements</a:t>
            </a:r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73938-5370-329C-27AB-D82ECB9D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83B3C-8735-B8FC-8D50-B919B347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7</a:t>
            </a:fld>
            <a:endParaRPr lang="en-US"/>
          </a:p>
        </p:txBody>
      </p:sp>
      <p:sp>
        <p:nvSpPr>
          <p:cNvPr id="12" name="Rectangle 6">
            <a:extLst>
              <a:ext uri="{FF2B5EF4-FFF2-40B4-BE49-F238E27FC236}">
                <a16:creationId xmlns:a16="http://schemas.microsoft.com/office/drawing/2014/main" id="{41914AB2-4413-0A86-6FCF-775B8EE178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1779517"/>
            <a:ext cx="1196340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Decision Tree and Random Forest outperformed Linear Regression due to better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handling of non-linear agricultural patterns. Humans keep inventing weather chaos and then expect linear equations to emotionally cope with it.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K-Means Clustering successfully identified 3 agricultural zones based on rainfall, temperature, and crop yield data.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The system can be further improved by integrating advanced models such as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Gradient Boosting for higher prediction accuracy.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Future enhancements include expanding the dataset with satellite imagery, soil nutrient information, and multi-season agricultural records.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Deploying the model as a web or mobile application can enable real-time crop yield prediction for farmers and researchers.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Continuous learning mechanisms can help the system adapt to changing climate conditions and crop patterns over time.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More flexible clustering techniques such as DBSCAN or Gaussian Mixture Models can be used instead of fixed K-value clustering.</a:t>
            </a:r>
          </a:p>
        </p:txBody>
      </p:sp>
    </p:spTree>
    <p:extLst>
      <p:ext uri="{BB962C8B-B14F-4D97-AF65-F5344CB8AC3E}">
        <p14:creationId xmlns:p14="http://schemas.microsoft.com/office/powerpoint/2010/main" val="1263363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EA9EE-5679-A557-E7BF-0A904D097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6077-2697-7116-5A2C-99B8054B7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B1971-AF7F-80EE-26ED-EA8A7E8C7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/>
          </a:bodyPr>
          <a:lstStyle/>
          <a:p>
            <a:pPr lvl="0"/>
            <a:r>
              <a:rPr lang="en-IN" sz="2400" dirty="0"/>
              <a:t>Scikit-learn Documentation. </a:t>
            </a:r>
            <a:r>
              <a:rPr lang="en-IN" sz="2400" i="1" dirty="0"/>
              <a:t>Machine Learning in Python</a:t>
            </a:r>
            <a:r>
              <a:rPr lang="en-IN" sz="2400" dirty="0"/>
              <a:t>. Available at: </a:t>
            </a:r>
            <a:r>
              <a:rPr lang="en-IN" sz="2400" u="sng" dirty="0">
                <a:hlinkClick r:id="rId2"/>
              </a:rPr>
              <a:t>https://scikit-learn.org</a:t>
            </a:r>
            <a:r>
              <a:rPr lang="en-US" sz="2400" dirty="0"/>
              <a:t> </a:t>
            </a:r>
            <a:endParaRPr lang="en-IN" sz="2400" dirty="0"/>
          </a:p>
          <a:p>
            <a:pPr lvl="0"/>
            <a:r>
              <a:rPr lang="en-US" sz="2400" dirty="0"/>
              <a:t>Kaggle. Crop Yield Prediction Dataset. Available at: </a:t>
            </a:r>
            <a:r>
              <a:rPr lang="en-US" sz="2400" dirty="0">
                <a:hlinkClick r:id="rId3"/>
              </a:rPr>
              <a:t>https://www.kaggle.com</a:t>
            </a:r>
            <a:endParaRPr lang="en-US" sz="2400" dirty="0"/>
          </a:p>
          <a:p>
            <a:pPr lvl="0"/>
            <a:r>
              <a:rPr lang="en-US" sz="2400" dirty="0"/>
              <a:t>Mitchell, T. M. (1997). Machine Learning. McGraw-Hill Education.</a:t>
            </a:r>
          </a:p>
          <a:p>
            <a:pPr lvl="0"/>
            <a:r>
              <a:rPr lang="en-US" sz="2400" dirty="0"/>
              <a:t>Bishop, C. M. (2006). Pattern Recognition and Machine Learning. Springer.</a:t>
            </a:r>
          </a:p>
          <a:p>
            <a:pPr lvl="0"/>
            <a:r>
              <a:rPr lang="en-IN" sz="2400" dirty="0"/>
              <a:t>Raschka, S. &amp; </a:t>
            </a:r>
            <a:r>
              <a:rPr lang="en-IN" sz="2400" dirty="0" err="1"/>
              <a:t>Mirjalili</a:t>
            </a:r>
            <a:r>
              <a:rPr lang="en-IN" sz="2400" dirty="0"/>
              <a:t>, V. (2019). Python Machine Learning, 3rd Edition. </a:t>
            </a:r>
            <a:r>
              <a:rPr lang="en-IN" sz="2400" dirty="0" err="1"/>
              <a:t>Packt</a:t>
            </a:r>
            <a:r>
              <a:rPr lang="en-IN" sz="2400" dirty="0"/>
              <a:t> Publishing.</a:t>
            </a:r>
          </a:p>
          <a:p>
            <a:pPr lvl="0"/>
            <a:r>
              <a:rPr lang="en-US" sz="2400" dirty="0" err="1"/>
              <a:t>Breiman</a:t>
            </a:r>
            <a:r>
              <a:rPr lang="en-US" sz="2400" dirty="0"/>
              <a:t>, L. (2001). Random Forests. Machine Learning, 45, 5–32.</a:t>
            </a:r>
          </a:p>
          <a:p>
            <a:pPr lvl="0"/>
            <a:r>
              <a:rPr lang="en-IN" sz="2400" dirty="0"/>
              <a:t>Han, J., Kamber, M., &amp; Pei, J. (2011). Data Mining: Concepts and Techniques, 3rd Edition. Morgan Kaufmann.</a:t>
            </a:r>
          </a:p>
          <a:p>
            <a:pPr lvl="0"/>
            <a:r>
              <a:rPr lang="en-US" sz="2400" dirty="0"/>
              <a:t>UCI Machine Learning Repository. Available at: </a:t>
            </a:r>
            <a:r>
              <a:rPr lang="en-US" sz="2400" dirty="0">
                <a:hlinkClick r:id="rId4"/>
              </a:rPr>
              <a:t>https://archive.ics.uci.edu</a:t>
            </a:r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721BC-42E2-4822-3086-5AF81F1A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D8BC28-15FA-0C88-32FB-88458DEBB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60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875</Words>
  <Application>Microsoft Office PowerPoint</Application>
  <PresentationFormat>Widescreen</PresentationFormat>
  <Paragraphs>91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DEPARTMENT OF CSE (ARTIFICIAL INTELLIGENCE AND MACHINE LEARNING) ACADEMIC YEAR 2025 - 2026 SEMESTER III ARTIFICIAL INTELLIGENCE LABORATORY  MINI PROJECT REVIEW   &lt;SMART AGRICULTURE YIELD PREDICTION USING MACHINE LEARNING WITH MODEL COMPARISON AND CLUSTERING&gt;</vt:lpstr>
      <vt:lpstr>PROBLEM STATEMENT</vt:lpstr>
      <vt:lpstr>THEORETICAL BACKGROUND</vt:lpstr>
      <vt:lpstr>THEORETICAL BACKGROUND</vt:lpstr>
      <vt:lpstr>IMPLEMENTATION AND CODE</vt:lpstr>
      <vt:lpstr>OUTPUT AND RESULTS</vt:lpstr>
      <vt:lpstr>OUTPUT AND RESULTS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 Jenishia A</dc:creator>
  <cp:lastModifiedBy>G R Devamalyaa</cp:lastModifiedBy>
  <cp:revision>11</cp:revision>
  <dcterms:created xsi:type="dcterms:W3CDTF">2025-10-18T08:57:34Z</dcterms:created>
  <dcterms:modified xsi:type="dcterms:W3CDTF">2026-05-06T15:21:23Z</dcterms:modified>
</cp:coreProperties>
</file>