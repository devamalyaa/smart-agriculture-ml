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3" r:id="rId5"/>
    <p:sldId id="258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2" d="100"/>
          <a:sy n="52" d="100"/>
        </p:scale>
        <p:origin x="1758" y="10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76D98-D61B-4655-9F07-885518B2E1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17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" TargetMode="External"/><Relationship Id="rId2" Type="http://schemas.openxmlformats.org/officeDocument/2006/relationships/hyperlink" Target="https://scikit-learn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chive.ics.uci.ed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INTELLIGENCE 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dirty="0">
                <a:solidFill>
                  <a:srgbClr val="FF0000"/>
                </a:solidFill>
              </a:rPr>
              <a:t>SMART AGRICULTURE YIELD PREDICTION USING MACHINE LEARNING WITH MODEL COMPARISON AND CLUSTERING</a:t>
            </a: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41962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2117240030024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DEVAMALYAA G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5/6/2026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53820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i="1" dirty="0"/>
              <a:t>Introduction</a:t>
            </a:r>
          </a:p>
          <a:p>
            <a:r>
              <a:rPr lang="en-US" sz="2400" dirty="0"/>
              <a:t>Machine Learning enables systems to learn patterns from data and make predictions without explicit programming</a:t>
            </a:r>
          </a:p>
          <a:p>
            <a:r>
              <a:rPr lang="en-US" sz="2400" dirty="0"/>
              <a:t>Agriculture is the backbone of developing economies and crop yield prediction is critical for planning</a:t>
            </a:r>
          </a:p>
          <a:p>
            <a:r>
              <a:rPr lang="en-US" sz="2400" dirty="0"/>
              <a:t>Traditional yield prediction methods rely on expert knowledge and historical averages — often inaccurate</a:t>
            </a:r>
            <a:endParaRPr lang="en-US" sz="2600" dirty="0"/>
          </a:p>
          <a:p>
            <a:pPr marL="0" indent="0">
              <a:buNone/>
            </a:pPr>
            <a:r>
              <a:rPr lang="en-US" sz="2600" b="1" i="1" dirty="0"/>
              <a:t>Problem Statement</a:t>
            </a:r>
          </a:p>
          <a:p>
            <a:r>
              <a:rPr lang="en-US" sz="2600" dirty="0"/>
              <a:t>P</a:t>
            </a:r>
            <a:r>
              <a:rPr lang="en-US" sz="2400" dirty="0"/>
              <a:t>redict crop yield in tons per hectare using agricultural and environmental features</a:t>
            </a:r>
            <a:endParaRPr lang="en-US" sz="2600" dirty="0"/>
          </a:p>
          <a:p>
            <a:r>
              <a:rPr lang="en-US" sz="2400" dirty="0"/>
              <a:t>Train and compare multiple regression models to identify the best-performing approach</a:t>
            </a:r>
            <a:r>
              <a:rPr lang="en-US" sz="2600" dirty="0"/>
              <a:t> </a:t>
            </a:r>
          </a:p>
          <a:p>
            <a:pPr marL="0" indent="0">
              <a:buNone/>
            </a:pPr>
            <a:r>
              <a:rPr lang="en-US" sz="2600" b="1" i="1" dirty="0"/>
              <a:t>Goal</a:t>
            </a:r>
          </a:p>
          <a:p>
            <a:r>
              <a:rPr lang="en-US" sz="2600" dirty="0"/>
              <a:t>B</a:t>
            </a:r>
            <a:r>
              <a:rPr lang="en-US" sz="2400" dirty="0"/>
              <a:t>uild an accurate regression model using Linear Regression, Decision Tree, Random Forest, and KNN</a:t>
            </a:r>
            <a:endParaRPr lang="en-US" sz="2600" dirty="0"/>
          </a:p>
          <a:p>
            <a:r>
              <a:rPr lang="en-US" sz="2600" dirty="0"/>
              <a:t>C</a:t>
            </a:r>
            <a:r>
              <a:rPr lang="en-US" sz="2400" dirty="0"/>
              <a:t>ompare models using R² Score, MSE, and MAE to select the best model</a:t>
            </a:r>
            <a:endParaRPr lang="en-US" sz="2600" dirty="0"/>
          </a:p>
          <a:p>
            <a:r>
              <a:rPr lang="en-US" sz="2600" dirty="0"/>
              <a:t>A</a:t>
            </a:r>
            <a:r>
              <a:rPr lang="en-US" sz="2400" dirty="0"/>
              <a:t>pply K-Means Clustering to group farm conditions into High, Moderate, and Low Productivity Zones</a:t>
            </a:r>
            <a:endParaRPr lang="en-US" sz="2600" dirty="0"/>
          </a:p>
          <a:p>
            <a:r>
              <a:rPr lang="en-US" sz="2600" dirty="0"/>
              <a:t>P</a:t>
            </a:r>
            <a:r>
              <a:rPr lang="en-US" sz="2400" dirty="0"/>
              <a:t>roduce visualizations including model comparison charts, actual vs predicted plots, and clustering scatter plots</a:t>
            </a:r>
            <a:endParaRPr lang="en-US" sz="26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2900" b="1" i="1" dirty="0"/>
              <a:t>Theoretical Background</a:t>
            </a:r>
          </a:p>
          <a:p>
            <a:pPr algn="just"/>
            <a:r>
              <a:rPr lang="en-US" sz="3200" dirty="0"/>
              <a:t>Crop yield prediction is a supervised regression problem with continuous numerical output.</a:t>
            </a:r>
          </a:p>
          <a:p>
            <a:pPr algn="just"/>
            <a:r>
              <a:rPr lang="en-US" sz="3200" dirty="0"/>
              <a:t>Features include categorical data (Region, Crop, Soil Type) and numerical data (Rainfall, Temperature).</a:t>
            </a:r>
          </a:p>
          <a:p>
            <a:pPr algn="just"/>
            <a:r>
              <a:rPr lang="en-US" sz="3200" dirty="0"/>
              <a:t> Non-linear relationships in agricultural data require advanced machine learning models beyond Linear Regression.</a:t>
            </a:r>
            <a:endParaRPr lang="en-US" sz="2900" b="1" i="1" dirty="0"/>
          </a:p>
          <a:p>
            <a:pPr marL="0" indent="0" algn="just">
              <a:buNone/>
            </a:pPr>
            <a:r>
              <a:rPr lang="en-US" b="1" dirty="0"/>
              <a:t>Algorithms Used</a:t>
            </a:r>
          </a:p>
          <a:p>
            <a:pPr algn="just"/>
            <a:r>
              <a:rPr lang="en-US" dirty="0"/>
              <a:t> </a:t>
            </a:r>
            <a:r>
              <a:rPr lang="en-US" b="1" dirty="0"/>
              <a:t>Linear Regression</a:t>
            </a:r>
            <a:r>
              <a:rPr lang="en-US" dirty="0"/>
              <a:t>: Baseline model assuming linear relationship between features and crop yield.</a:t>
            </a:r>
          </a:p>
          <a:p>
            <a:pPr algn="just"/>
            <a:r>
              <a:rPr lang="en-US" b="1" dirty="0"/>
              <a:t>Decision Tree Regressor</a:t>
            </a:r>
            <a:r>
              <a:rPr lang="en-US" dirty="0"/>
              <a:t>: Captures non-linear patterns using recursive feature-based splits.</a:t>
            </a:r>
          </a:p>
          <a:p>
            <a:pPr algn="just"/>
            <a:r>
              <a:rPr lang="en-US" b="1" dirty="0"/>
              <a:t>Random Forest Regressor</a:t>
            </a:r>
            <a:r>
              <a:rPr lang="en-US" dirty="0"/>
              <a:t>: Main model using multiple decision trees for higher accuracy and reduced overfitting. Humans invented forests virtually because real forests were apparently too difficult to preserve.</a:t>
            </a:r>
          </a:p>
          <a:p>
            <a:pPr algn="just"/>
            <a:r>
              <a:rPr lang="en-US" b="1" dirty="0"/>
              <a:t>KNN Regressor</a:t>
            </a:r>
            <a:r>
              <a:rPr lang="en-US" dirty="0"/>
              <a:t>: Predicts yield using the average of nearest neighboring data points.</a:t>
            </a:r>
          </a:p>
          <a:p>
            <a:pPr algn="just"/>
            <a:r>
              <a:rPr lang="en-US" b="1" dirty="0"/>
              <a:t>K-Means Clustering</a:t>
            </a:r>
            <a:r>
              <a:rPr lang="en-US" dirty="0"/>
              <a:t>: Groups agricultural regions into 3 productivity-based clusters using unsupervised learning.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692F9-E6A8-9165-1233-1384C217B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B32A-6884-DADB-828C-F53524C41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F08CF-236F-14BF-634D-10454BE84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Algorithm Explanation with Example</a:t>
            </a:r>
          </a:p>
          <a:p>
            <a:r>
              <a:rPr lang="en-US" sz="2400" dirty="0"/>
              <a:t>Step 1 → Load dataset (crop_yield.csv) with 10 features and 1 target variable</a:t>
            </a:r>
          </a:p>
          <a:p>
            <a:r>
              <a:rPr lang="en-US" sz="2400" dirty="0"/>
              <a:t>Step 2 → Preprocess: encode categorical columns, convert </a:t>
            </a:r>
            <a:r>
              <a:rPr lang="en-US" sz="2400" dirty="0" err="1"/>
              <a:t>boolean</a:t>
            </a:r>
            <a:r>
              <a:rPr lang="en-US" sz="2400" dirty="0"/>
              <a:t> columns, apply </a:t>
            </a:r>
            <a:r>
              <a:rPr lang="en-US" sz="2400" dirty="0" err="1"/>
              <a:t>StandardScaler</a:t>
            </a:r>
            <a:endParaRPr lang="en-IN" sz="2200" dirty="0"/>
          </a:p>
          <a:p>
            <a:r>
              <a:rPr lang="en-US" sz="2400" dirty="0"/>
              <a:t>Step 3 → Split data: 80% training, 20% testing with </a:t>
            </a:r>
            <a:r>
              <a:rPr lang="en-US" sz="2400" dirty="0" err="1"/>
              <a:t>random_state</a:t>
            </a:r>
            <a:r>
              <a:rPr lang="en-US" sz="2400" dirty="0"/>
              <a:t>=42</a:t>
            </a:r>
          </a:p>
          <a:p>
            <a:r>
              <a:rPr lang="en-US" sz="2400" dirty="0"/>
              <a:t>Step 4 → Train all four regression models on the same training set</a:t>
            </a:r>
          </a:p>
          <a:p>
            <a:r>
              <a:rPr lang="en-US" sz="2400" dirty="0"/>
              <a:t>Step 5 → Evaluate each model using R², MSE, and MAE on the test set</a:t>
            </a:r>
          </a:p>
          <a:p>
            <a:r>
              <a:rPr lang="en-US" sz="2400" dirty="0"/>
              <a:t>Step 6 → Apply K-Means Clustering on Rainfall, Temperature, Days to Harvest, and Yield</a:t>
            </a:r>
            <a:endParaRPr lang="en-IN" sz="2200" dirty="0"/>
          </a:p>
          <a:p>
            <a:r>
              <a:rPr lang="en-US" sz="2400" dirty="0"/>
              <a:t>Step 7 → Visualize: model comparison chart, actual vs predicted, feature importance, clustering plot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F2D05-A28B-9AE5-5DB6-96BD58CD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D5687-0702-4182-5C9F-F11E91471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16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506153"/>
              </p:ext>
            </p:extLst>
          </p:nvPr>
        </p:nvGraphicFramePr>
        <p:xfrm>
          <a:off x="609600" y="2205222"/>
          <a:ext cx="11181348" cy="2016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64042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8117306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https://github.com/Devamalyaa/Smart-Agriculture-ML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https://github.com/AntoJenishia/sentiment-analyser/blob/main/AIML_AL23421_ML_MINI_PROJECT_2117240030007_IV.docx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https://github.com/AntoJenishia/sentiment-analyser/blob/main/</a:t>
                      </a:r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ML_LAB_MINI_PPT_2117240030007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.pptx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DA1F7BB-82E2-26EE-5547-D7E3F2D41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9617" y="1135793"/>
            <a:ext cx="5428864" cy="276430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386840-34A7-94D4-3CD5-600E6D9B29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68729" y="1135793"/>
            <a:ext cx="3860733" cy="27643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FA79DA-430A-618D-31E2-1C9FF940C2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7592" y="4002240"/>
            <a:ext cx="3272912" cy="27187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94884B-D9B5-A716-CCEB-493EEF281C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4550" y="4002755"/>
            <a:ext cx="4469090" cy="271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dirty="0"/>
              <a:t> Results and Future Enhancements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1914AB2-4413-0A86-6FCF-775B8EE17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1779517"/>
            <a:ext cx="119634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Decision Tree and Random Forest outperformed Linear Regression due to better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handling of non-linear agricultural patterns. Humans keep inventing weather chaos and then expect linear equations to emotionally cope with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K-Means Clustering successfully identified 3 agricultural zones based on rainfall, temperature, and crop yield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The system can be further improved by integrating advanced models such as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Gradient Boosting for higher prediction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Future enhancements include expanding the dataset with satellite imagery, soil nutrient information, and multi-season agricultural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Deploying the model as a web or mobile application can enable real-time crop yield prediction for farmers and researchers.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Continuous learning mechanisms can help the system adapt to changing climate conditions and crop patterns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More flexible clustering techniques such as DBSCAN or Gaussian Mixture Models can be used instead of fixed K-value clustering.</a:t>
            </a:r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/>
          </a:bodyPr>
          <a:lstStyle/>
          <a:p>
            <a:pPr lvl="0"/>
            <a:r>
              <a:rPr lang="en-IN" sz="2400" dirty="0"/>
              <a:t>Scikit-learn Documentation. </a:t>
            </a:r>
            <a:r>
              <a:rPr lang="en-IN" sz="2400" i="1" dirty="0"/>
              <a:t>Machine Learning in Python</a:t>
            </a:r>
            <a:r>
              <a:rPr lang="en-IN" sz="2400" dirty="0"/>
              <a:t>. Available at: </a:t>
            </a:r>
            <a:r>
              <a:rPr lang="en-IN" sz="2400" u="sng" dirty="0">
                <a:hlinkClick r:id="rId2"/>
              </a:rPr>
              <a:t>https://scikit-learn.org</a:t>
            </a:r>
            <a:r>
              <a:rPr lang="en-US" sz="2400" dirty="0"/>
              <a:t> </a:t>
            </a:r>
            <a:endParaRPr lang="en-IN" sz="2400" dirty="0"/>
          </a:p>
          <a:p>
            <a:pPr lvl="0"/>
            <a:r>
              <a:rPr lang="en-US" sz="2400" dirty="0"/>
              <a:t>Kaggle. Crop Yield Prediction Dataset. Available at: </a:t>
            </a:r>
            <a:r>
              <a:rPr lang="en-US" sz="2400" dirty="0">
                <a:hlinkClick r:id="rId3"/>
              </a:rPr>
              <a:t>https://www.kaggle.com</a:t>
            </a:r>
            <a:endParaRPr lang="en-US" sz="2400" dirty="0"/>
          </a:p>
          <a:p>
            <a:pPr lvl="0"/>
            <a:r>
              <a:rPr lang="en-US" sz="2400" dirty="0"/>
              <a:t>Mitchell, T. M. (1997). Machine Learning. McGraw-Hill Education.</a:t>
            </a:r>
          </a:p>
          <a:p>
            <a:pPr lvl="0"/>
            <a:r>
              <a:rPr lang="en-US" sz="2400" dirty="0"/>
              <a:t>Bishop, C. M. (2006). Pattern Recognition and Machine Learning. Springer.</a:t>
            </a:r>
          </a:p>
          <a:p>
            <a:pPr lvl="0"/>
            <a:r>
              <a:rPr lang="en-IN" sz="2400" dirty="0"/>
              <a:t>Raschka, S. &amp; </a:t>
            </a:r>
            <a:r>
              <a:rPr lang="en-IN" sz="2400" dirty="0" err="1"/>
              <a:t>Mirjalili</a:t>
            </a:r>
            <a:r>
              <a:rPr lang="en-IN" sz="2400" dirty="0"/>
              <a:t>, V. (2019). Python Machine Learning, 3rd Edition. </a:t>
            </a:r>
            <a:r>
              <a:rPr lang="en-IN" sz="2400" dirty="0" err="1"/>
              <a:t>Packt</a:t>
            </a:r>
            <a:r>
              <a:rPr lang="en-IN" sz="2400" dirty="0"/>
              <a:t> Publishing.</a:t>
            </a:r>
          </a:p>
          <a:p>
            <a:pPr lvl="0"/>
            <a:r>
              <a:rPr lang="en-US" sz="2400" dirty="0" err="1"/>
              <a:t>Breiman</a:t>
            </a:r>
            <a:r>
              <a:rPr lang="en-US" sz="2400" dirty="0"/>
              <a:t>, L. (2001). Random Forests. Machine Learning, 45, 5–32.</a:t>
            </a:r>
          </a:p>
          <a:p>
            <a:pPr lvl="0"/>
            <a:r>
              <a:rPr lang="en-IN" sz="2400" dirty="0"/>
              <a:t>Han, J., Kamber, M., &amp; Pei, J. (2011). Data Mining: Concepts and Techniques, 3rd Edition. Morgan Kaufmann.</a:t>
            </a:r>
          </a:p>
          <a:p>
            <a:pPr lvl="0"/>
            <a:r>
              <a:rPr lang="en-US" sz="2400" dirty="0"/>
              <a:t>UCI Machine Learning Repository. Available at: </a:t>
            </a:r>
            <a:r>
              <a:rPr lang="en-US" sz="2400" dirty="0">
                <a:hlinkClick r:id="rId4"/>
              </a:rPr>
              <a:t>https://archive.ics.uci.edu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887</Words>
  <Application>Microsoft Office PowerPoint</Application>
  <PresentationFormat>Widescreen</PresentationFormat>
  <Paragraphs>91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DEPARTMENT OF CSE (ARTIFICIAL INTELLIGENCE AND MACHINE LEARNING) ACADEMIC YEAR 2025 - 2026 SEMESTER III ARTIFICIAL INTELLIGENCE LABORATORY  MINI PROJECT REVIEW   &lt;SMART AGRICULTURE YIELD PREDICTION USING MACHINE LEARNING WITH MODEL COMPARISON AND CLUSTERING&gt;</vt:lpstr>
      <vt:lpstr>PROBLEM STATEMENT</vt:lpstr>
      <vt:lpstr>THEORETICAL BACKGROUND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 Jenishia A</dc:creator>
  <cp:lastModifiedBy>G R Devamalyaa</cp:lastModifiedBy>
  <cp:revision>9</cp:revision>
  <dcterms:created xsi:type="dcterms:W3CDTF">2025-10-18T08:57:34Z</dcterms:created>
  <dcterms:modified xsi:type="dcterms:W3CDTF">2026-05-06T15:18:29Z</dcterms:modified>
</cp:coreProperties>
</file>